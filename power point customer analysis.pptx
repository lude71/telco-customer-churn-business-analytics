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8223" autoAdjust="0"/>
  </p:normalViewPr>
  <p:slideViewPr>
    <p:cSldViewPr snapToGrid="0">
      <p:cViewPr varScale="1">
        <p:scale>
          <a:sx n="57" d="100"/>
          <a:sy n="57" d="100"/>
        </p:scale>
        <p:origin x="12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782DF-B22F-2EC9-8C0B-957622F355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8C935B-8542-BA06-E742-F9E304CCB8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C19CD-B503-A549-8D56-738016C81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1B436-CE52-456F-BC25-F4ECB883CCCD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54A8D-A32F-89D5-26F4-A1BAFEC5C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CCBD0-C4E0-4E3B-9862-0DE006FAA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548B1-2F8C-4C0F-AEAE-01BC04BA48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442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16C79-CEC7-9E66-2F88-3DD0754B6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29057-C284-44D0-2B80-AE1E2831F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30899-A0FE-05B1-4AB4-4BFEF28B0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1B436-CE52-456F-BC25-F4ECB883CCCD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5C375-7F87-B08A-A8A6-4BFAA333D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76558-439D-5683-9670-515DE1E0D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548B1-2F8C-4C0F-AEAE-01BC04BA48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273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3C5F3-B8E3-3DB6-0356-E255D3ABA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DB619-358C-DF07-5BDF-BECA25D9B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A1A85-85C5-EF21-2DCA-5A1E6C1A1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1B436-CE52-456F-BC25-F4ECB883CCCD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3B8C2-249E-4C3F-A08F-20A42E98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6EDDC-E92B-6F8F-4C2B-0A626F866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548B1-2F8C-4C0F-AEAE-01BC04BA48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142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B113A-ED3F-CBF5-7689-636563576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8E13A-7CEA-7BFB-BCA0-0CA37A41AA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102BD4-F147-398A-EE2C-731A8B78D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660E22-10BC-7186-A330-6A022CE80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1B436-CE52-456F-BC25-F4ECB883CCCD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2E5EBB-391F-BDD0-4B34-B517412A5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C46B3-7972-939D-FA49-9D0DE34A6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548B1-2F8C-4C0F-AEAE-01BC04BA48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081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AE410-6B22-173C-EABC-7EF32EB30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81059-A1C2-F086-00BC-9A3DE87FB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DD2C38-4AE2-63A9-2A9A-6ED9B24CDE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430A12-FC35-763B-ADC4-D931740BB9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1AFCB5-56B4-E597-0F52-2DA58BE25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315D5C-E9FE-5470-1A48-99171DFD7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1B436-CE52-456F-BC25-F4ECB883CCCD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521A89-120B-5523-CDB1-DFB387FA3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3DD78D-CDBA-8916-2293-098E37EC9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548B1-2F8C-4C0F-AEAE-01BC04BA48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389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043A9-67DD-BB84-25DE-75188BAFC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E6039D-FF4D-7FFD-09CD-AF2AA2D9F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1B436-CE52-456F-BC25-F4ECB883CCCD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ACC20-066E-A574-2BDB-3867790C4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2350A0-91E8-A870-8DA1-506947167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548B1-2F8C-4C0F-AEAE-01BC04BA48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219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8223BA-B34D-C52A-F0BC-CE581029B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1B436-CE52-456F-BC25-F4ECB883CCCD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C22A5D-7D0A-9EA6-54D8-D3890D52E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487AA-FAC0-6A2D-CDCB-B57A0D872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548B1-2F8C-4C0F-AEAE-01BC04BA48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073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41D35-90F8-5AF2-07A5-1C60A05F6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FF188-C351-9441-FE45-501CFFCAE1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5B7658-6EB9-0B40-47C5-8AF648B39C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EDFA5-772F-6B4E-0407-2DB1013AC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1B436-CE52-456F-BC25-F4ECB883CCCD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6C172A-1727-5A31-A38A-040833118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07B83D-ADDE-F50C-37F4-FA34E79E7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548B1-2F8C-4C0F-AEAE-01BC04BA48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006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9F5F5-45D6-7846-6DFD-064D2FF24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34C9B6-CC99-58B0-E7FD-56AFDAC13B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3770AF-413E-C227-F028-9DB257A684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1F87B1-F45B-69A2-A0C7-BDEA9FFCD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1B436-CE52-456F-BC25-F4ECB883CCCD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B1C881-46AC-C47B-3AB9-5639EA9B9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66F9D8-939E-FB65-22C4-B36D0CF4A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548B1-2F8C-4C0F-AEAE-01BC04BA48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075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C684C-4784-D34F-8AC2-28DB7A482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E7E440-3B0B-FBD1-6370-8E93D4478C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A2A540-0064-9930-B224-ED3377A2B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1B436-CE52-456F-BC25-F4ECB883CCCD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7DDEA-CC2C-C787-66D6-B33FDAD7B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A4731-7B83-008D-7B99-16D4CD9A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548B1-2F8C-4C0F-AEAE-01BC04BA48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312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C17018-FB55-78B0-A9BC-40800F996D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E9505A-5C78-8079-BB0D-9348E225F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90546-C24A-DC35-0546-57EEF4512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1B436-CE52-456F-BC25-F4ECB883CCCD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E197B-7BD3-B9FE-F66A-5287649D0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E5E21-1DB8-BFF9-0308-32FC6A673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548B1-2F8C-4C0F-AEAE-01BC04BA48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584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BF9FB3-801D-F310-6F31-BA28193EF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3F34EC-3E72-988A-B6AE-AED48B94E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49642-6846-303D-06A4-D5337BBA25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01B436-CE52-456F-BC25-F4ECB883CCCD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1E497-FB82-1EBD-5C95-A7C6FF834E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D730D-DB9E-3BA3-1DEE-E3067BDC38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548B1-2F8C-4C0F-AEAE-01BC04BA48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326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E8C49-76A4-04B1-AEF7-007E82E69C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176463"/>
            <a:ext cx="9144000" cy="492492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Customer Churn Analysis in a Telecommunications Company</a:t>
            </a:r>
            <a:br>
              <a:rPr lang="en-US" b="1" dirty="0"/>
            </a:br>
            <a:r>
              <a:rPr lang="en-US" b="1" dirty="0"/>
              <a:t>Business Analytics Case Study</a:t>
            </a:r>
            <a:br>
              <a:rPr lang="en-US" dirty="0"/>
            </a:br>
            <a:r>
              <a:rPr lang="en-US" b="1" dirty="0"/>
              <a:t>Prepared by:</a:t>
            </a:r>
            <a:br>
              <a:rPr lang="en-US" dirty="0"/>
            </a:br>
            <a:r>
              <a:rPr lang="en-US" b="1" dirty="0"/>
              <a:t>Eliud Kigen Kipkorir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90797A-44A5-503A-A436-8B7463B29F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14274"/>
            <a:ext cx="9144000" cy="2630904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Institution:AnalystLab</a:t>
            </a:r>
            <a:r>
              <a:rPr lang="en-US" dirty="0"/>
              <a:t> Africa</a:t>
            </a:r>
          </a:p>
          <a:p>
            <a:r>
              <a:rPr lang="en-US" b="1" dirty="0"/>
              <a:t>Tools Used:</a:t>
            </a:r>
            <a:endParaRPr lang="en-US" dirty="0"/>
          </a:p>
          <a:p>
            <a:pPr lvl="0"/>
            <a:r>
              <a:rPr lang="en-US" dirty="0"/>
              <a:t>Python </a:t>
            </a:r>
          </a:p>
          <a:p>
            <a:pPr lvl="0"/>
            <a:r>
              <a:rPr lang="en-US" dirty="0"/>
              <a:t>Google </a:t>
            </a:r>
            <a:r>
              <a:rPr lang="en-US" dirty="0" err="1"/>
              <a:t>Colab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Pandas </a:t>
            </a:r>
          </a:p>
          <a:p>
            <a:pPr lvl="0"/>
            <a:r>
              <a:rPr lang="en-US" dirty="0"/>
              <a:t>Matplotlib </a:t>
            </a:r>
          </a:p>
          <a:p>
            <a:pPr lvl="0"/>
            <a:r>
              <a:rPr lang="en-US" dirty="0"/>
              <a:t>Seaborn </a:t>
            </a:r>
          </a:p>
          <a:p>
            <a:r>
              <a:rPr lang="en-US" b="1" dirty="0"/>
              <a:t>Dataset:</a:t>
            </a:r>
            <a:r>
              <a:rPr lang="en-US" dirty="0"/>
              <a:t> Telco Customer Churn Dataset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6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E5961-5BBB-B18A-2B0A-16F168F07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D1862-5BCD-0010-0A74-D33720A83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Challenge</a:t>
            </a:r>
          </a:p>
          <a:p>
            <a:r>
              <a:rPr lang="en-US" dirty="0"/>
              <a:t>Telecommunication companies experience customer churn, which leads to:</a:t>
            </a:r>
          </a:p>
          <a:p>
            <a:pPr lvl="0"/>
            <a:r>
              <a:rPr lang="en-US" dirty="0"/>
              <a:t>Reduced revenue </a:t>
            </a:r>
          </a:p>
          <a:p>
            <a:pPr lvl="0"/>
            <a:r>
              <a:rPr lang="en-US" dirty="0"/>
              <a:t>Higher customer acquisition costs </a:t>
            </a:r>
          </a:p>
          <a:p>
            <a:pPr lvl="0"/>
            <a:r>
              <a:rPr lang="en-US" dirty="0"/>
              <a:t>Lower customer loyalty </a:t>
            </a:r>
          </a:p>
          <a:p>
            <a:r>
              <a:rPr lang="en-US" b="1" dirty="0"/>
              <a:t>Project Objective</a:t>
            </a:r>
          </a:p>
          <a:p>
            <a:r>
              <a:rPr lang="en-US" dirty="0"/>
              <a:t>Identify the major factors influencing customer churn and recommend strategies to improve customer retention using data analytics.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053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DD52B-E179-1301-7F9E-0C4911AB4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A3C9009-D309-6718-714A-B6E795E7A9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6744533"/>
              </p:ext>
            </p:extLst>
          </p:nvPr>
        </p:nvGraphicFramePr>
        <p:xfrm>
          <a:off x="838200" y="2337020"/>
          <a:ext cx="10515600" cy="21839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66147692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47567961"/>
                    </a:ext>
                  </a:extLst>
                </a:gridCol>
              </a:tblGrid>
              <a:tr h="4367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7748623"/>
                  </a:ext>
                </a:extLst>
              </a:tr>
              <a:tr h="4367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7,032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7972094"/>
                  </a:ext>
                </a:extLst>
              </a:tr>
              <a:tr h="4367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Variables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5782120"/>
                  </a:ext>
                </a:extLst>
              </a:tr>
              <a:tr h="4367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Missing Values Removed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8937046"/>
                  </a:ext>
                </a:extLst>
              </a:tr>
              <a:tr h="4367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Duplicate Records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542346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A6D2FAE-AF44-79C9-AD5D-8A1A19CDBFD0}"/>
              </a:ext>
            </a:extLst>
          </p:cNvPr>
          <p:cNvSpPr txBox="1"/>
          <p:nvPr/>
        </p:nvSpPr>
        <p:spPr>
          <a:xfrm>
            <a:off x="806116" y="169068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Telco Customer Churn Dataset</a:t>
            </a:r>
          </a:p>
          <a:p>
            <a:pPr>
              <a:buNone/>
            </a:pPr>
            <a:r>
              <a:rPr lang="en-US" b="1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398135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FDE79-55CD-F239-7B14-6DB17AC32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 Factors Influencing Customer Churn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89DA250-B68F-33EC-5887-BB4E6178DA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7494484"/>
              </p:ext>
            </p:extLst>
          </p:nvPr>
        </p:nvGraphicFramePr>
        <p:xfrm>
          <a:off x="838200" y="1459832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44668343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25190010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Finding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65296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Contract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Month-to-month customers churn the most.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711313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Monthly Charges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Higher-paying customers are more likely to churn.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927924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Customer Tenure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New customers churn more frequently.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851623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Internet 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Fiber optic customers recorded the highest churn.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44223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AFB027EF-76C9-7B28-70E1-B3577F407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73" y="3429000"/>
            <a:ext cx="5948527" cy="27855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D1BACF-6D19-6871-6FF0-402615CE0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3569368"/>
            <a:ext cx="5361946" cy="2892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29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2E747-D480-043B-646B-00493CB00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15999"/>
          </a:xfrm>
        </p:spPr>
        <p:txBody>
          <a:bodyPr/>
          <a:lstStyle/>
          <a:p>
            <a:r>
              <a:rPr lang="en-US" dirty="0"/>
              <a:t>Additional Business Insights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6B76145-375D-C9FD-6D56-693E6650C0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5900419"/>
              </p:ext>
            </p:extLst>
          </p:nvPr>
        </p:nvGraphicFramePr>
        <p:xfrm>
          <a:off x="838200" y="1016000"/>
          <a:ext cx="10515600" cy="1444526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66914561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907496707"/>
                    </a:ext>
                  </a:extLst>
                </a:gridCol>
              </a:tblGrid>
              <a:tr h="38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Factor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Finding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3554258"/>
                  </a:ext>
                </a:extLst>
              </a:tr>
              <a:tr h="38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Payment 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Electronic check customers churn the most.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2684251"/>
                  </a:ext>
                </a:extLst>
              </a:tr>
              <a:tr h="674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Technical 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Customers without technical support are more likely to leave.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49316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2B30387-07C4-E5C6-C9E7-EF11CBE31AD3}"/>
              </a:ext>
            </a:extLst>
          </p:cNvPr>
          <p:cNvSpPr txBox="1"/>
          <p:nvPr/>
        </p:nvSpPr>
        <p:spPr>
          <a:xfrm>
            <a:off x="601133" y="2460526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High-Risk Customer Profile</a:t>
            </a:r>
          </a:p>
          <a:p>
            <a:pPr>
              <a:buNone/>
            </a:pPr>
            <a:r>
              <a:rPr lang="en-US" dirty="0"/>
              <a:t>A customer is more likely to churn if they: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Have a month-to-month contract.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Pay higher monthly charges.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Are new to the company.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Use Fiber optic services.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Pay using Electronic Check.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Do not have Technical Support.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B00177-3A8B-DCF0-6CBA-E1E0FD87D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600" y="2460526"/>
            <a:ext cx="5254269" cy="23083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E7FDB01-B69B-BB8B-6215-1ABAFDDF2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768849"/>
            <a:ext cx="6437389" cy="1971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797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B3604-E206-E27A-FA17-76D319890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64169-0AEC-C9BD-4C6D-2F97C7C42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Encourage customers to upgrade to long-term contracts. </a:t>
            </a:r>
          </a:p>
          <a:p>
            <a:pPr lvl="0"/>
            <a:r>
              <a:rPr lang="en-US" dirty="0"/>
              <a:t>Review pricing strategies for high-paying customers. </a:t>
            </a:r>
          </a:p>
          <a:p>
            <a:pPr lvl="0"/>
            <a:r>
              <a:rPr lang="en-US" dirty="0"/>
              <a:t>Improve customer onboarding during the first year. </a:t>
            </a:r>
          </a:p>
          <a:p>
            <a:pPr lvl="0"/>
            <a:r>
              <a:rPr lang="en-US" dirty="0"/>
              <a:t>Investigate Fiber optic customer satisfaction. </a:t>
            </a:r>
          </a:p>
          <a:p>
            <a:pPr lvl="0"/>
            <a:r>
              <a:rPr lang="en-US" dirty="0"/>
              <a:t>Promote automatic payment methods and technical support services.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52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4A953-ED6D-8755-5BCE-C3A374149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842D7-2DF2-6EF4-E771-94E6D9A77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 Takeaways</a:t>
            </a:r>
          </a:p>
          <a:p>
            <a:pPr lvl="0"/>
            <a:r>
              <a:rPr lang="en-US" dirty="0"/>
              <a:t>Customer churn is influenced by multiple business factors. </a:t>
            </a:r>
          </a:p>
          <a:p>
            <a:pPr lvl="0"/>
            <a:r>
              <a:rPr lang="en-US" dirty="0"/>
              <a:t>Contract type, tenure, pricing, internet service, payment method, and technical support significantly affect customer retention. </a:t>
            </a:r>
          </a:p>
          <a:p>
            <a:pPr lvl="0"/>
            <a:r>
              <a:rPr lang="en-US" dirty="0"/>
              <a:t>Data analytics enables organizations to identify at-risk customers and make informed business decisions. </a:t>
            </a:r>
          </a:p>
          <a:p>
            <a:r>
              <a:rPr lang="en-US" b="1" dirty="0"/>
              <a:t>Thank You</a:t>
            </a:r>
          </a:p>
          <a:p>
            <a:r>
              <a:rPr lang="en-US" b="1" dirty="0"/>
              <a:t>Questions?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018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</Words>
  <Application>Microsoft Office PowerPoint</Application>
  <PresentationFormat>Widescreen</PresentationFormat>
  <Paragraphs>69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Customer Churn Analysis in a Telecommunications Company Business Analytics Case Study Prepared by: Eliud Kigen Kipkorir </vt:lpstr>
      <vt:lpstr>Business Problem</vt:lpstr>
      <vt:lpstr>Dataset Overview</vt:lpstr>
      <vt:lpstr>Major Factors Influencing Customer Churn</vt:lpstr>
      <vt:lpstr>Additional Business Insights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Lude Kig</dc:creator>
  <cp:lastModifiedBy>Lude Kig</cp:lastModifiedBy>
  <cp:revision>1</cp:revision>
  <dcterms:created xsi:type="dcterms:W3CDTF">2026-08-04T09:04:27Z</dcterms:created>
  <dcterms:modified xsi:type="dcterms:W3CDTF">2026-08-04T09:05:23Z</dcterms:modified>
</cp:coreProperties>
</file>